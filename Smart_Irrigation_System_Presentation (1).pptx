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4"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121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5594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7683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9693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GB"/>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5802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7611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2952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46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1082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3670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1525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03417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3754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264817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9321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74333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3333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11/5/2025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70864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90" y="185195"/>
            <a:ext cx="7500395" cy="2558005"/>
          </a:xfrm>
        </p:spPr>
        <p:txBody>
          <a:bodyPr/>
          <a:lstStyle/>
          <a:p>
            <a:pPr algn="ctr">
              <a:defRPr>
                <a:solidFill>
                  <a:srgbClr val="228B22"/>
                </a:solidFill>
              </a:defRPr>
            </a:pPr>
            <a:r>
              <a:rPr 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SMART IRRIGATION SYSTEM </a:t>
            </a:r>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748630" y="2743200"/>
            <a:ext cx="6624443" cy="3929605"/>
          </a:xfrm>
        </p:spPr>
        <p:txBody>
          <a:bodyPr>
            <a:normAutofit/>
          </a:bodyPr>
          <a:lstStyle/>
          <a:p>
            <a:pPr algn="ctr"/>
            <a:r>
              <a:rPr lang="en-US">
                <a:solidFill>
                  <a:schemeClr val="tx1"/>
                </a:solidFill>
              </a:rPr>
              <a:t>An IoT-based solution for efficient water use in agriculture</a:t>
            </a: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r>
              <a:rPr lang="en-US">
                <a:solidFill>
                  <a:schemeClr val="tx1"/>
                </a:solidFill>
              </a:rPr>
              <a:t>Presented by GreenTech</a:t>
            </a:r>
          </a:p>
          <a:p>
            <a:pPr algn="ctr"/>
            <a:r>
              <a:rPr lang="en-US">
                <a:solidFill>
                  <a:schemeClr val="tx1"/>
                </a:solidFill>
              </a:rPr>
              <a:t>  						        </a:t>
            </a: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31494"/>
            <a:ext cx="6844497" cy="1018572"/>
          </a:xfrm>
        </p:spPr>
        <p:txBody>
          <a:bodyPr>
            <a:normAutofit/>
          </a:bodyPr>
          <a:lstStyle/>
          <a:p>
            <a:pPr algn="ctr">
              <a:defRPr>
                <a:solidFill>
                  <a:srgbClr val="228B22"/>
                </a:solidFill>
              </a:defRPr>
            </a:pP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INTRODUCTION</a:t>
            </a:r>
          </a:p>
        </p:txBody>
      </p:sp>
      <p:sp>
        <p:nvSpPr>
          <p:cNvPr id="3" name="Content Placeholder 2"/>
          <p:cNvSpPr>
            <a:spLocks noGrp="1"/>
          </p:cNvSpPr>
          <p:nvPr>
            <p:ph idx="1"/>
          </p:nvPr>
        </p:nvSpPr>
        <p:spPr>
          <a:xfrm>
            <a:off x="609598" y="1759352"/>
            <a:ext cx="7029693" cy="4282011"/>
          </a:xfrm>
        </p:spPr>
        <p:txBody>
          <a:bodyPr>
            <a:normAutofit/>
          </a:bodyPr>
          <a:lstStyle/>
          <a:p>
            <a:pPr algn="just">
              <a:lnSpc>
                <a:spcPct val="200000"/>
              </a:lnSpc>
              <a:defRPr sz="1800">
                <a:solidFill>
                  <a:srgbClr val="005000"/>
                </a:solidFill>
              </a:defRPr>
            </a:pPr>
            <a:r>
              <a:rPr lang="en-US" dirty="0">
                <a:solidFill>
                  <a:schemeClr val="tx1"/>
                </a:solidFill>
              </a:rPr>
              <a:t>Efficient water use is a major challenge in farming, as fixed irrigation schedules often lead to overwatering or underwatering crops, which can waste water and reduce yields. </a:t>
            </a:r>
          </a:p>
          <a:p>
            <a:pPr algn="just">
              <a:lnSpc>
                <a:spcPct val="200000"/>
              </a:lnSpc>
              <a:defRPr sz="1800">
                <a:solidFill>
                  <a:srgbClr val="005000"/>
                </a:solidFill>
              </a:defRPr>
            </a:pPr>
            <a:r>
              <a:rPr lang="en-US" dirty="0">
                <a:solidFill>
                  <a:schemeClr val="tx1"/>
                </a:solidFill>
              </a:rPr>
              <a:t>Our project, the Smart Irrigation System, addresses this problem by automatically watering plants based on soil moisture and temperature</a:t>
            </a:r>
            <a:r>
              <a:rPr lang="en-US"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218" y="266218"/>
            <a:ext cx="8542115" cy="844952"/>
          </a:xfrm>
        </p:spPr>
        <p:txBody>
          <a:bodyPr>
            <a:noAutofit/>
          </a:bodyPr>
          <a:lstStyle/>
          <a:p>
            <a:pPr algn="ctr">
              <a:defRPr>
                <a:solidFill>
                  <a:srgbClr val="228B22"/>
                </a:solidFill>
              </a:defRPr>
            </a:pP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PROBLEM STATEMENT</a:t>
            </a:r>
          </a:p>
        </p:txBody>
      </p:sp>
      <p:sp>
        <p:nvSpPr>
          <p:cNvPr id="3" name="Content Placeholder 2"/>
          <p:cNvSpPr>
            <a:spLocks noGrp="1"/>
          </p:cNvSpPr>
          <p:nvPr>
            <p:ph idx="1"/>
          </p:nvPr>
        </p:nvSpPr>
        <p:spPr>
          <a:xfrm>
            <a:off x="609599" y="1932972"/>
            <a:ext cx="6913946" cy="2766350"/>
          </a:xfrm>
        </p:spPr>
        <p:txBody>
          <a:bodyPr>
            <a:normAutofit/>
          </a:bodyPr>
          <a:lstStyle/>
          <a:p>
            <a:pPr algn="just">
              <a:lnSpc>
                <a:spcPct val="200000"/>
              </a:lnSpc>
              <a:defRPr sz="1800">
                <a:solidFill>
                  <a:srgbClr val="005000"/>
                </a:solidFill>
              </a:defRPr>
            </a:pPr>
            <a:r>
              <a:rPr lang="en-US" dirty="0">
                <a:solidFill>
                  <a:schemeClr val="tx1"/>
                </a:solidFill>
                <a:latin typeface="+mj-lt"/>
                <a:cs typeface="Times New Roman" panose="02020603050405020304" pitchFamily="18" charset="0"/>
              </a:rPr>
              <a:t>Farmers often irrigate crops on fixed schedules, regardless of actual soil moisture or weather conditions. This approach can lead to overwatering, wasting valuable water resources, or underwatering, which reduces crop yield and quality. </a:t>
            </a:r>
          </a:p>
          <a:p>
            <a:pPr marL="0" indent="0" algn="just">
              <a:lnSpc>
                <a:spcPct val="200000"/>
              </a:lnSpc>
              <a:buNone/>
              <a:defRPr sz="1800">
                <a:solidFill>
                  <a:srgbClr val="005000"/>
                </a:solidFill>
              </a:defRPr>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2775" y="115747"/>
            <a:ext cx="7044316" cy="1284791"/>
          </a:xfrm>
        </p:spPr>
        <p:txBody>
          <a:bodyPr>
            <a:normAutofit/>
          </a:bodyPr>
          <a:lstStyle/>
          <a:p>
            <a:pPr algn="ctr">
              <a:defRPr>
                <a:solidFill>
                  <a:srgbClr val="228B22"/>
                </a:solidFill>
              </a:defRPr>
            </a:pPr>
            <a:r>
              <a:rPr lang="en-US" dirty="0"/>
              <a:t>⚙️</a:t>
            </a: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AIM &amp; MISSION </a:t>
            </a:r>
          </a:p>
        </p:txBody>
      </p:sp>
      <p:sp>
        <p:nvSpPr>
          <p:cNvPr id="6" name="Content Placeholder 5">
            <a:extLst>
              <a:ext uri="{FF2B5EF4-FFF2-40B4-BE49-F238E27FC236}">
                <a16:creationId xmlns:a16="http://schemas.microsoft.com/office/drawing/2014/main" id="{D71CF844-1265-A463-AF6E-A4F009AA0223}"/>
              </a:ext>
            </a:extLst>
          </p:cNvPr>
          <p:cNvSpPr>
            <a:spLocks noGrp="1"/>
          </p:cNvSpPr>
          <p:nvPr>
            <p:ph idx="1"/>
          </p:nvPr>
        </p:nvSpPr>
        <p:spPr>
          <a:xfrm>
            <a:off x="609599" y="995424"/>
            <a:ext cx="6879222" cy="5046724"/>
          </a:xfrm>
        </p:spPr>
        <p:txBody>
          <a:bodyPr>
            <a:noAutofit/>
          </a:bodyPr>
          <a:lstStyle/>
          <a:p>
            <a:pPr algn="just">
              <a:lnSpc>
                <a:spcPct val="200000"/>
              </a:lnSpc>
            </a:pPr>
            <a:r>
              <a:rPr lang="en-US" dirty="0">
                <a:solidFill>
                  <a:schemeClr val="tx1"/>
                </a:solidFill>
              </a:rPr>
              <a:t>The aim is to design and implement a Smart Irrigation System that automatically waters plants based on real-time soil moisture and temperature readings, ensuring efficient water use and optimal crop growth.</a:t>
            </a:r>
          </a:p>
          <a:p>
            <a:pPr algn="just">
              <a:lnSpc>
                <a:spcPct val="200000"/>
              </a:lnSpc>
            </a:pPr>
            <a:r>
              <a:rPr lang="en-US" dirty="0">
                <a:solidFill>
                  <a:schemeClr val="tx1"/>
                </a:solidFill>
              </a:rPr>
              <a:t>The mission is to promote sustainable and efficient farming practices by developing an automated irrigation system that monitors soil and environmental conditions, reduces water wastage, and supports healthy crop growth.</a:t>
            </a:r>
          </a:p>
          <a:p>
            <a:pPr algn="just"/>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115" y="347241"/>
            <a:ext cx="7072132" cy="1250065"/>
          </a:xfrm>
        </p:spPr>
        <p:txBody>
          <a:bodyPr>
            <a:normAutofit/>
          </a:bodyPr>
          <a:lstStyle/>
          <a:p>
            <a:pPr>
              <a:defRPr>
                <a:solidFill>
                  <a:srgbClr val="228B22"/>
                </a:solidFill>
              </a:defRPr>
            </a:pPr>
            <a:r>
              <a:rPr dirty="0"/>
              <a:t>💡 </a:t>
            </a: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PROPOSED SOLUTION </a:t>
            </a:r>
          </a:p>
        </p:txBody>
      </p:sp>
      <p:sp>
        <p:nvSpPr>
          <p:cNvPr id="3" name="Content Placeholder 2"/>
          <p:cNvSpPr>
            <a:spLocks noGrp="1"/>
          </p:cNvSpPr>
          <p:nvPr>
            <p:ph idx="1"/>
          </p:nvPr>
        </p:nvSpPr>
        <p:spPr>
          <a:xfrm>
            <a:off x="609599" y="1342663"/>
            <a:ext cx="7712598" cy="4444057"/>
          </a:xfrm>
        </p:spPr>
        <p:txBody>
          <a:bodyPr/>
          <a:lstStyle/>
          <a:p>
            <a:pPr algn="just">
              <a:defRPr sz="1800">
                <a:solidFill>
                  <a:srgbClr val="005000"/>
                </a:solidFill>
              </a:defRPr>
            </a:pPr>
            <a:r>
              <a:rPr lang="en-US" dirty="0">
                <a:solidFill>
                  <a:schemeClr val="tx1"/>
                </a:solidFill>
              </a:rPr>
              <a:t>A Smart Irrigation System that automatically controls water supply based on soil moisture and temperature. Using sensors to monitor conditions, the system determines when irrigation is necessary</a:t>
            </a:r>
            <a:r>
              <a:rPr lang="en-US" dirty="0"/>
              <a:t>.</a:t>
            </a:r>
          </a:p>
          <a:p>
            <a:pPr algn="just">
              <a:defRPr sz="1800">
                <a:solidFill>
                  <a:srgbClr val="005000"/>
                </a:solidFill>
              </a:defRPr>
            </a:pPr>
            <a:endParaRPr dirty="0"/>
          </a:p>
        </p:txBody>
      </p:sp>
      <p:pic>
        <p:nvPicPr>
          <p:cNvPr id="5" name="Picture 4" descr="A computer circuit board with wires&#10;&#10;AI-generated content may be incorrect.">
            <a:extLst>
              <a:ext uri="{FF2B5EF4-FFF2-40B4-BE49-F238E27FC236}">
                <a16:creationId xmlns:a16="http://schemas.microsoft.com/office/drawing/2014/main" id="{BDCC4C78-BB2B-5933-D34A-B941C52699F6}"/>
              </a:ext>
            </a:extLst>
          </p:cNvPr>
          <p:cNvPicPr>
            <a:picLocks noChangeAspect="1"/>
          </p:cNvPicPr>
          <p:nvPr/>
        </p:nvPicPr>
        <p:blipFill>
          <a:blip r:embed="rId2"/>
          <a:stretch>
            <a:fillRect/>
          </a:stretch>
        </p:blipFill>
        <p:spPr>
          <a:xfrm>
            <a:off x="1" y="2211386"/>
            <a:ext cx="9144000" cy="46466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367D1-0899-1A62-DAAD-AADC97D52939}"/>
              </a:ext>
            </a:extLst>
          </p:cNvPr>
          <p:cNvSpPr>
            <a:spLocks noGrp="1"/>
          </p:cNvSpPr>
          <p:nvPr>
            <p:ph type="title"/>
          </p:nvPr>
        </p:nvSpPr>
        <p:spPr>
          <a:xfrm>
            <a:off x="609599" y="462988"/>
            <a:ext cx="6347713" cy="833378"/>
          </a:xfrm>
        </p:spPr>
        <p:txBody>
          <a:bodyPr>
            <a:normAutofit fontScale="90000"/>
          </a:bodyPr>
          <a:lstStyle/>
          <a:p>
            <a:pPr algn="ctr"/>
            <a:r>
              <a:rPr lang="en-US" sz="4900"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BENEFITS</a:t>
            </a:r>
            <a:r>
              <a:rPr lang="en-US" sz="4900" dirty="0">
                <a:latin typeface="Times New Roman" panose="02020603050405020304" pitchFamily="18" charset="0"/>
                <a:cs typeface="Times New Roman" panose="02020603050405020304" pitchFamily="18" charset="0"/>
              </a:rPr>
              <a:t> </a:t>
            </a: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A633EABD-772B-D841-D8DE-BD37162B627C}"/>
              </a:ext>
            </a:extLst>
          </p:cNvPr>
          <p:cNvSpPr>
            <a:spLocks noGrp="1"/>
          </p:cNvSpPr>
          <p:nvPr>
            <p:ph idx="1"/>
          </p:nvPr>
        </p:nvSpPr>
        <p:spPr>
          <a:xfrm>
            <a:off x="609599" y="1551008"/>
            <a:ext cx="6925520" cy="4490355"/>
          </a:xfrm>
        </p:spPr>
        <p:txBody>
          <a:bodyPr/>
          <a:lstStyle/>
          <a:p>
            <a:pPr>
              <a:lnSpc>
                <a:spcPct val="200000"/>
              </a:lnSpc>
            </a:pPr>
            <a:r>
              <a:rPr lang="en-US" dirty="0"/>
              <a:t>It saves water and energy</a:t>
            </a:r>
          </a:p>
          <a:p>
            <a:pPr>
              <a:lnSpc>
                <a:spcPct val="200000"/>
              </a:lnSpc>
            </a:pPr>
            <a:r>
              <a:rPr lang="en-US" dirty="0"/>
              <a:t>Promote precision farming</a:t>
            </a:r>
          </a:p>
          <a:p>
            <a:pPr>
              <a:lnSpc>
                <a:spcPct val="200000"/>
              </a:lnSpc>
            </a:pPr>
            <a:r>
              <a:rPr lang="en-US" dirty="0"/>
              <a:t>Requires minimal human intervention</a:t>
            </a:r>
          </a:p>
          <a:p>
            <a:pPr>
              <a:lnSpc>
                <a:spcPct val="200000"/>
              </a:lnSpc>
            </a:pPr>
            <a:r>
              <a:rPr lang="en-US" dirty="0"/>
              <a:t>It promotes plant health and production yield</a:t>
            </a:r>
          </a:p>
          <a:p>
            <a:pPr algn="just">
              <a:lnSpc>
                <a:spcPct val="200000"/>
              </a:lnSpc>
            </a:pPr>
            <a:r>
              <a:rPr lang="en-US" dirty="0"/>
              <a:t>Avoid erosion and overwatering and underwatering the plants</a:t>
            </a:r>
          </a:p>
        </p:txBody>
      </p:sp>
    </p:spTree>
    <p:extLst>
      <p:ext uri="{BB962C8B-B14F-4D97-AF65-F5344CB8AC3E}">
        <p14:creationId xmlns:p14="http://schemas.microsoft.com/office/powerpoint/2010/main" val="929121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7874644" cy="952982"/>
          </a:xfrm>
        </p:spPr>
        <p:txBody>
          <a:bodyPr>
            <a:normAutofit/>
          </a:bodyPr>
          <a:lstStyle/>
          <a:p>
            <a:pPr algn="ctr">
              <a:defRPr>
                <a:solidFill>
                  <a:srgbClr val="228B22"/>
                </a:solidFill>
              </a:defRPr>
            </a:pPr>
            <a:r>
              <a:rPr sz="4400" dirty="0">
                <a:latin typeface="Times New Roman" panose="02020603050405020304" pitchFamily="18" charset="0"/>
                <a:cs typeface="Times New Roman" panose="02020603050405020304" pitchFamily="18" charset="0"/>
              </a:rPr>
              <a:t>🌾 </a:t>
            </a: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endParaRP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8" y="1956122"/>
            <a:ext cx="6786625" cy="4085241"/>
          </a:xfrm>
        </p:spPr>
        <p:txBody>
          <a:bodyPr/>
          <a:lstStyle/>
          <a:p>
            <a:pPr algn="just">
              <a:lnSpc>
                <a:spcPct val="200000"/>
              </a:lnSpc>
              <a:defRPr sz="1800">
                <a:solidFill>
                  <a:srgbClr val="005000"/>
                </a:solidFill>
              </a:defRPr>
            </a:pPr>
            <a:r>
              <a:rPr dirty="0">
                <a:solidFill>
                  <a:schemeClr val="tx1"/>
                </a:solidFill>
              </a:rPr>
              <a:t>The Smart Irrigation System demonstrates the transformative potential of IoT in agriculture. By automating irrigation based on real-time data, farmers can conserve water, improve crop yields, and reduce manual labor. This project highlights how technology can drive sustainable agricultural practices.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EFEE8-053E-810D-CC22-7DE914B9CCED}"/>
              </a:ext>
            </a:extLst>
          </p:cNvPr>
          <p:cNvSpPr>
            <a:spLocks noGrp="1"/>
          </p:cNvSpPr>
          <p:nvPr>
            <p:ph type="ctrTitle"/>
          </p:nvPr>
        </p:nvSpPr>
        <p:spPr>
          <a:xfrm>
            <a:off x="1084296" y="0"/>
            <a:ext cx="6358226" cy="1122744"/>
          </a:xfrm>
        </p:spPr>
        <p:txBody>
          <a:bodyPr/>
          <a:lstStyle/>
          <a:p>
            <a:pPr algn="ctr"/>
            <a:r>
              <a:rPr lang="en-US" sz="4400"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 </a:t>
            </a:r>
          </a:p>
        </p:txBody>
      </p:sp>
      <p:sp>
        <p:nvSpPr>
          <p:cNvPr id="3" name="Subtitle 2">
            <a:extLst>
              <a:ext uri="{FF2B5EF4-FFF2-40B4-BE49-F238E27FC236}">
                <a16:creationId xmlns:a16="http://schemas.microsoft.com/office/drawing/2014/main" id="{99E187A6-CBC3-0236-EFB6-9C29EB18ABE4}"/>
              </a:ext>
            </a:extLst>
          </p:cNvPr>
          <p:cNvSpPr>
            <a:spLocks noGrp="1"/>
          </p:cNvSpPr>
          <p:nvPr>
            <p:ph type="subTitle" idx="1"/>
          </p:nvPr>
        </p:nvSpPr>
        <p:spPr/>
        <p:txBody>
          <a:bodyPr/>
          <a:lstStyle/>
          <a:p>
            <a:endParaRPr lang="en-US" dirty="0"/>
          </a:p>
        </p:txBody>
      </p:sp>
      <p:pic>
        <p:nvPicPr>
          <p:cNvPr id="5" name="Picture 4" descr="A chalkboard with hands on it&#10;&#10;AI-generated content may be incorrect.">
            <a:extLst>
              <a:ext uri="{FF2B5EF4-FFF2-40B4-BE49-F238E27FC236}">
                <a16:creationId xmlns:a16="http://schemas.microsoft.com/office/drawing/2014/main" id="{722E9D71-5053-BA35-0449-C0DFDD659175}"/>
              </a:ext>
            </a:extLst>
          </p:cNvPr>
          <p:cNvPicPr>
            <a:picLocks noChangeAspect="1"/>
          </p:cNvPicPr>
          <p:nvPr/>
        </p:nvPicPr>
        <p:blipFill>
          <a:blip r:embed="rId2"/>
          <a:stretch>
            <a:fillRect/>
          </a:stretch>
        </p:blipFill>
        <p:spPr>
          <a:xfrm>
            <a:off x="0" y="1932972"/>
            <a:ext cx="9051403" cy="4925028"/>
          </a:xfrm>
          <a:prstGeom prst="rect">
            <a:avLst/>
          </a:prstGeom>
        </p:spPr>
      </p:pic>
    </p:spTree>
    <p:extLst>
      <p:ext uri="{BB962C8B-B14F-4D97-AF65-F5344CB8AC3E}">
        <p14:creationId xmlns:p14="http://schemas.microsoft.com/office/powerpoint/2010/main" val="248491659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TM04033925[[fn=Droplet]]</Template>
  <TotalTime>889</TotalTime>
  <Words>304</Words>
  <Application>Microsoft Office PowerPoint</Application>
  <PresentationFormat>On-screen Show (4:3)</PresentationFormat>
  <Paragraphs>29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Times New Roman</vt:lpstr>
      <vt:lpstr>Trebuchet MS</vt:lpstr>
      <vt:lpstr>Wingdings 3</vt:lpstr>
      <vt:lpstr>Facet</vt:lpstr>
      <vt:lpstr>SMART IRRIGATION SYSTEM </vt:lpstr>
      <vt:lpstr>🌱 INTRODUCTION</vt:lpstr>
      <vt:lpstr>🎯 PROBLEM STATEMENT</vt:lpstr>
      <vt:lpstr>⚙️AIM &amp; MISSION </vt:lpstr>
      <vt:lpstr>💡 PROPOSED SOLUTION </vt:lpstr>
      <vt:lpstr>💡 BENEFITS    </vt:lpstr>
      <vt:lpstr>🌾 CONCLUSION</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Thandiswa Nhlabathi</dc:creator>
  <cp:keywords/>
  <dc:description>generated using python-pptx</dc:description>
  <cp:lastModifiedBy>Thabo Lubisi</cp:lastModifiedBy>
  <cp:revision>8</cp:revision>
  <dcterms:created xsi:type="dcterms:W3CDTF">2013-01-27T09:14:16Z</dcterms:created>
  <dcterms:modified xsi:type="dcterms:W3CDTF">2025-11-05T07:27:30Z</dcterms:modified>
  <cp:category/>
</cp:coreProperties>
</file>